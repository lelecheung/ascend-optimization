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01" autoAdjust="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38" y="8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0624" y="804672"/>
            <a:ext cx="1371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19375C"/>
                </a:solidFill>
                <a:latin typeface="Microsoft YaHei"/>
              </a:rPr>
              <a:t>FlagGems</a:t>
            </a:r>
            <a:endParaRPr sz="1400" b="1" dirty="0">
              <a:solidFill>
                <a:srgbClr val="19375C"/>
              </a:solidFill>
              <a:latin typeface="Microsoft YaHe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803679"/>
              </p:ext>
            </p:extLst>
          </p:nvPr>
        </p:nvGraphicFramePr>
        <p:xfrm>
          <a:off x="411480" y="1225296"/>
          <a:ext cx="13807440" cy="4828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算子</a:t>
                      </a:r>
                    </a:p>
                  </a:txBody>
                  <a:tcPr marL="82296" marR="82296" marT="27432" marB="27432" anchor="ctr">
                    <a:solidFill>
                      <a:srgbClr val="1937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Excel 原记录</a:t>
                      </a:r>
                    </a:p>
                  </a:txBody>
                  <a:tcPr marL="82296" marR="82296" marT="27432" marB="27432" anchor="ctr">
                    <a:solidFill>
                      <a:srgbClr val="1937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FlagGems 实测</a:t>
                      </a:r>
                    </a:p>
                  </a:txBody>
                  <a:tcPr marL="82296" marR="82296" marT="27432" marB="27432" anchor="ctr">
                    <a:solidFill>
                      <a:srgbClr val="1937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HG-KDA</a:t>
                      </a:r>
                    </a:p>
                  </a:txBody>
                  <a:tcPr marL="82296" marR="82296" marT="27432" marB="27432" anchor="ctr"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完整评测</a:t>
                      </a:r>
                    </a:p>
                  </a:txBody>
                  <a:tcPr marL="82296" marR="82296" marT="27432" marB="27432" anchor="ctr">
                    <a:solidFill>
                      <a:srgbClr val="1937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关键优化</a:t>
                      </a:r>
                    </a:p>
                  </a:txBody>
                  <a:tcPr marL="82296" marR="82296" marT="27432" marB="27432" anchor="ctr">
                    <a:solidFill>
                      <a:srgbClr val="1937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9375C"/>
                          </a:solidFill>
                          <a:latin typeface="Microsoft YaHei"/>
                        </a:rPr>
                        <a:t>value_selecting_reduction_backward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0.4935×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0.759×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87F8C"/>
                          </a:solidFill>
                          <a:latin typeface="Microsoft YaHei"/>
                        </a:rPr>
                        <a:t>1.635×</a:t>
                      </a:r>
                    </a:p>
                  </a:txBody>
                  <a:tcPr marL="82296" marR="82296" marT="27432" marB="27432" anchor="ctr">
                    <a:solidFill>
                      <a:srgbClr val="E4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96/96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融合补零与梯度回填；修复非连续布局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9375C"/>
                          </a:solidFill>
                          <a:latin typeface="Microsoft YaHei"/>
                        </a:rPr>
                        <a:t>scatter_add</a:t>
                      </a:r>
                    </a:p>
                  </a:txBody>
                  <a:tcPr marL="82296" marR="8229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精度失败</a:t>
                      </a:r>
                    </a:p>
                  </a:txBody>
                  <a:tcPr marL="82296" marR="8229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9375C"/>
                          </a:solidFill>
                          <a:latin typeface="Microsoft YaHei"/>
                        </a:rPr>
                        <a:t>0.258×</a:t>
                      </a:r>
                    </a:p>
                  </a:txBody>
                  <a:tcPr marL="82296" marR="8229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87F8C"/>
                          </a:solidFill>
                          <a:latin typeface="Microsoft YaHei"/>
                        </a:rPr>
                        <a:t>1.900×</a:t>
                      </a:r>
                    </a:p>
                  </a:txBody>
                  <a:tcPr marL="82296" marR="82296" marT="27432" marB="27432" anchor="ctr">
                    <a:solidFill>
                      <a:srgbClr val="E4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18/18</a:t>
                      </a:r>
                    </a:p>
                  </a:txBody>
                  <a:tcPr marL="82296" marR="8229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排序后按目标分段累加，避免跨目标数值干扰</a:t>
                      </a:r>
                    </a:p>
                  </a:txBody>
                  <a:tcPr marL="82296" marR="82296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9375C"/>
                          </a:solidFill>
                          <a:latin typeface="Microsoft YaHei"/>
                        </a:rPr>
                        <a:t>uniform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9375C"/>
                          </a:solidFill>
                          <a:latin typeface="Microsoft YaHei"/>
                        </a:rPr>
                        <a:t>无有效加速比</a:t>
                      </a:r>
                      <a:endParaRPr sz="1400" b="0" dirty="0">
                        <a:solidFill>
                          <a:srgbClr val="19375C"/>
                        </a:solidFill>
                        <a:latin typeface="Microsoft YaHe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9375C"/>
                          </a:solidFill>
                          <a:latin typeface="Microsoft YaHei"/>
                        </a:rPr>
                        <a:t>0.141</a:t>
                      </a:r>
                      <a:r>
                        <a:rPr lang="en-US" altLang="zh-CN" sz="1400" b="0" dirty="0">
                          <a:solidFill>
                            <a:srgbClr val="19375C"/>
                          </a:solidFill>
                          <a:latin typeface="Microsoft YaHei"/>
                        </a:rPr>
                        <a:t>×</a:t>
                      </a:r>
                      <a:endParaRPr sz="1400" b="0" dirty="0">
                        <a:solidFill>
                          <a:srgbClr val="19375C"/>
                        </a:solidFill>
                        <a:latin typeface="Microsoft YaHe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87F8C"/>
                          </a:solidFill>
                          <a:latin typeface="Microsoft YaHei"/>
                        </a:rPr>
                        <a:t>1.325×</a:t>
                      </a:r>
                    </a:p>
                  </a:txBody>
                  <a:tcPr marL="82296" marR="82296" marT="27432" marB="27432" anchor="ctr">
                    <a:solidFill>
                      <a:srgbClr val="E4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18/18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修复随机数整数运算；优化状态读取与启动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9375C"/>
                          </a:solidFill>
                          <a:latin typeface="Microsoft YaHei"/>
                        </a:rPr>
                        <a:t>rad2deg_</a:t>
                      </a:r>
                    </a:p>
                  </a:txBody>
                  <a:tcPr marL="82296" marR="8229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精度失败</a:t>
                      </a:r>
                    </a:p>
                  </a:txBody>
                  <a:tcPr marL="82296" marR="8229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9375C"/>
                          </a:solidFill>
                          <a:latin typeface="Microsoft YaHei"/>
                        </a:rPr>
                        <a:t>正确性失败</a:t>
                      </a:r>
                      <a:endParaRPr sz="1400" b="0" dirty="0">
                        <a:solidFill>
                          <a:srgbClr val="19375C"/>
                        </a:solidFill>
                        <a:latin typeface="Microsoft YaHei"/>
                      </a:endParaRPr>
                    </a:p>
                  </a:txBody>
                  <a:tcPr marL="82296" marR="8229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87F8C"/>
                          </a:solidFill>
                          <a:latin typeface="Microsoft YaHei"/>
                        </a:rPr>
                        <a:t>1.117×</a:t>
                      </a:r>
                    </a:p>
                  </a:txBody>
                  <a:tcPr marL="82296" marR="82296" marT="27432" marB="27432" anchor="ctr">
                    <a:solidFill>
                      <a:srgbClr val="E4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36/36</a:t>
                      </a:r>
                    </a:p>
                  </a:txBody>
                  <a:tcPr marL="82296" marR="8229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修复原地计算语义；调整分块与启动</a:t>
                      </a:r>
                    </a:p>
                  </a:txBody>
                  <a:tcPr marL="82296" marR="82296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9375C"/>
                          </a:solidFill>
                          <a:latin typeface="Microsoft YaHei"/>
                        </a:rPr>
                        <a:t>upsample_bilinear2d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精度失败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编译／布局失败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87F8C"/>
                          </a:solidFill>
                          <a:latin typeface="Microsoft YaHei"/>
                        </a:rPr>
                        <a:t>0.915×</a:t>
                      </a:r>
                    </a:p>
                  </a:txBody>
                  <a:tcPr marL="82296" marR="82296" marT="27432" marB="27432" anchor="ctr">
                    <a:solidFill>
                      <a:srgbClr val="E4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24/24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连续读取相邻输入行，一次算两行；修复交界重复写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9375C"/>
                          </a:solidFill>
                          <a:latin typeface="Microsoft YaHei"/>
                        </a:rPr>
                        <a:t>log10_</a:t>
                      </a:r>
                    </a:p>
                  </a:txBody>
                  <a:tcPr marL="82296" marR="8229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精度失败</a:t>
                      </a:r>
                    </a:p>
                  </a:txBody>
                  <a:tcPr marL="82296" marR="8229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正确性失败</a:t>
                      </a:r>
                    </a:p>
                  </a:txBody>
                  <a:tcPr marL="82296" marR="8229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87F8C"/>
                          </a:solidFill>
                          <a:latin typeface="Microsoft YaHei"/>
                        </a:rPr>
                        <a:t>0.875×</a:t>
                      </a:r>
                    </a:p>
                  </a:txBody>
                  <a:tcPr marL="82296" marR="82296" marT="27432" marB="27432" anchor="ctr">
                    <a:solidFill>
                      <a:srgbClr val="E4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36/36</a:t>
                      </a:r>
                    </a:p>
                  </a:txBody>
                  <a:tcPr marL="82296" marR="82296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修复高维寻址；减少中间类型转换，优化启动</a:t>
                      </a:r>
                    </a:p>
                  </a:txBody>
                  <a:tcPr marL="82296" marR="82296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9375C"/>
                          </a:solidFill>
                          <a:latin typeface="Microsoft YaHei"/>
                        </a:rPr>
                        <a:t>selu_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精度失败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0.119×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87F8C"/>
                          </a:solidFill>
                          <a:latin typeface="Microsoft YaHei"/>
                        </a:rPr>
                        <a:t>0.837×</a:t>
                      </a:r>
                    </a:p>
                  </a:txBody>
                  <a:tcPr marL="82296" marR="82296" marT="27432" marB="27432" anchor="ctr">
                    <a:solidFill>
                      <a:srgbClr val="E4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36/36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9375C"/>
                          </a:solidFill>
                          <a:latin typeface="Microsoft YaHei"/>
                        </a:rPr>
                        <a:t>调整分块与精度安排，优化启动</a:t>
                      </a:r>
                      <a:endParaRPr sz="1400" b="0" dirty="0">
                        <a:solidFill>
                          <a:srgbClr val="19375C"/>
                        </a:solidFill>
                        <a:latin typeface="Microsoft YaHe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0624" y="6144768"/>
            <a:ext cx="1371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19375C"/>
                </a:solidFill>
                <a:latin typeface="Microsoft YaHei"/>
              </a:rPr>
              <a:t>FlagGems-SGLang</a:t>
            </a:r>
            <a:endParaRPr sz="1400" b="1" dirty="0">
              <a:solidFill>
                <a:srgbClr val="19375C"/>
              </a:solidFill>
              <a:latin typeface="Microsoft YaHe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997118"/>
              </p:ext>
            </p:extLst>
          </p:nvPr>
        </p:nvGraphicFramePr>
        <p:xfrm>
          <a:off x="411480" y="6537960"/>
          <a:ext cx="1380744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算子</a:t>
                      </a:r>
                    </a:p>
                  </a:txBody>
                  <a:tcPr marL="82296" marR="82296" marT="27432" marB="27432" anchor="ctr">
                    <a:solidFill>
                      <a:srgbClr val="1937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FlagGems-SGLang 实测</a:t>
                      </a:r>
                    </a:p>
                  </a:txBody>
                  <a:tcPr marL="82296" marR="82296" marT="27432" marB="27432" anchor="ctr">
                    <a:solidFill>
                      <a:srgbClr val="1937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HG-KDA</a:t>
                      </a:r>
                    </a:p>
                  </a:txBody>
                  <a:tcPr marL="82296" marR="82296" marT="27432" marB="27432" anchor="ctr"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完整评测</a:t>
                      </a:r>
                    </a:p>
                  </a:txBody>
                  <a:tcPr marL="82296" marR="82296" marT="27432" marB="27432" anchor="ctr">
                    <a:solidFill>
                      <a:srgbClr val="1937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关键优化</a:t>
                      </a:r>
                    </a:p>
                  </a:txBody>
                  <a:tcPr marL="82296" marR="82296" marT="27432" marB="27432" anchor="ctr">
                    <a:solidFill>
                      <a:srgbClr val="1937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9375C"/>
                          </a:solidFill>
                          <a:latin typeface="Microsoft YaHei"/>
                        </a:rPr>
                        <a:t>gelu_and_mul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9375C"/>
                          </a:solidFill>
                          <a:latin typeface="Microsoft YaHei"/>
                        </a:rPr>
                        <a:t>0.068×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87F8C"/>
                          </a:solidFill>
                          <a:latin typeface="Microsoft YaHei"/>
                        </a:rPr>
                        <a:t>2.271×</a:t>
                      </a:r>
                    </a:p>
                  </a:txBody>
                  <a:tcPr marL="82296" marR="82296" marT="27432" marB="27432" anchor="ctr">
                    <a:solidFill>
                      <a:srgbClr val="E4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375C"/>
                          </a:solidFill>
                          <a:latin typeface="Microsoft YaHei"/>
                        </a:rPr>
                        <a:t>19/19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9375C"/>
                          </a:solidFill>
                          <a:latin typeface="Microsoft YaHei"/>
                        </a:rPr>
                        <a:t>对齐本机GELU公式；连续二维分块，简化索引与启动</a:t>
                      </a:r>
                      <a:endParaRPr sz="1400" b="0" dirty="0">
                        <a:solidFill>
                          <a:srgbClr val="19375C"/>
                        </a:solidFill>
                        <a:latin typeface="Microsoft YaHe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120</Words>
  <Application>Microsoft Office PowerPoint</Application>
  <PresentationFormat>自定义</PresentationFormat>
  <Paragraphs>60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hanle zhang</cp:lastModifiedBy>
  <cp:revision>8</cp:revision>
  <dcterms:created xsi:type="dcterms:W3CDTF">2013-01-27T09:14:16Z</dcterms:created>
  <dcterms:modified xsi:type="dcterms:W3CDTF">2026-10-28T14:13:02Z</dcterms:modified>
  <cp:category/>
</cp:coreProperties>
</file>