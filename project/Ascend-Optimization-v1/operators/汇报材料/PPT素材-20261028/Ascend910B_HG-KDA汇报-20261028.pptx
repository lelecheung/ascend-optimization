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60" y="4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8AD4CE"/>
                </a:solidFill>
                <a:latin typeface="Microsoft YaHei"/>
              </a:rPr>
              <a:t>ASCEND 910B · HG-KDA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106984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从硬件证据到可验证的算子优化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42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300" b="0">
                <a:solidFill>
                  <a:srgbClr val="D7E4EF"/>
                </a:solidFill>
                <a:latin typeface="Microsoft YaHei"/>
              </a:rPr>
              <a:t>方法闭环与会议算子阶段结果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10652760" cy="1325880"/>
          </a:xfrm>
          <a:prstGeom prst="roundRect">
            <a:avLst/>
          </a:prstGeom>
          <a:solidFill>
            <a:srgbClr val="203651"/>
          </a:solidFill>
          <a:ln>
            <a:solidFill>
              <a:srgbClr val="4161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968496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7 项默认验收达标  ·  1 项确定性条件达标  ·  2 项补充 NPU 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89704"/>
            <a:ext cx="102412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B8C9D9"/>
                </a:solidFill>
                <a:latin typeface="Microsoft YaHei"/>
              </a:rPr>
              <a:t>报告中的 0.8× 是项目验收线；超过 1× 才代表快于 PyTorch。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6254496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B8C9D9"/>
                </a:solidFill>
                <a:latin typeface="Microsoft YaHei"/>
              </a:rPr>
              <a:t>数据截至 2026-10-28｜固定 FlagGems／FlagTree 与 KGS 完整调用评测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68C8C"/>
                </a:solidFill>
                <a:latin typeface="Microsoft YaHei"/>
              </a:rPr>
              <a:t>第一部分｜方法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4253D"/>
                </a:solidFill>
                <a:latin typeface="Microsoft YaHei"/>
              </a:rPr>
              <a:t>HG-KDA 把硬件观察接到可验证的代码改动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26174"/>
                </a:solidFill>
                <a:latin typeface="Microsoft YaHei"/>
              </a:rPr>
              <a:t>老师提供成对 profiling 工作流；我们的增量是把指标计算、结构化诊断、热点筛选和经验约束接入同一优化闭环。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1109960" cy="22860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0352" y="1874519"/>
            <a:ext cx="21031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874519"/>
            <a:ext cx="73152" cy="2468880"/>
          </a:xfrm>
          <a:prstGeom prst="rect">
            <a:avLst/>
          </a:prstGeom>
          <a:solidFill>
            <a:srgbClr val="28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984248"/>
            <a:ext cx="1828799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2864A5"/>
                </a:solidFill>
                <a:latin typeface="Microsoft YaHei"/>
              </a:rPr>
              <a:t>① 成对采集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59736"/>
            <a:ext cx="1792223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4253D"/>
                </a:solidFill>
                <a:latin typeface="Microsoft YaHei"/>
              </a:rPr>
              <a:t>同一输入下对照候选与 PyTorch；核对设备、输入和目标 kernel。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834639"/>
            <a:ext cx="1463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526174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1874519"/>
            <a:ext cx="21031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79776" y="1874519"/>
            <a:ext cx="73152" cy="2468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984248"/>
            <a:ext cx="1828799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68C8C"/>
                </a:solidFill>
                <a:latin typeface="Microsoft YaHei"/>
              </a:rPr>
              <a:t>② 指标结构化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459736"/>
            <a:ext cx="1792223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4253D"/>
                </a:solidFill>
                <a:latin typeface="Microsoft YaHei"/>
              </a:rPr>
              <a:t>脚本汇总搬运字节／指令、Vector／Scalar／MTE时间、等待与冲突；计算比值和平均搬运粒度。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834639"/>
            <a:ext cx="1463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52617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874519"/>
            <a:ext cx="21031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1874519"/>
            <a:ext cx="73152" cy="2468880"/>
          </a:xfrm>
          <a:prstGeom prst="rect">
            <a:avLst/>
          </a:prstGeom>
          <a:solidFill>
            <a:srgbClr val="28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792" y="1984248"/>
            <a:ext cx="1828799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2864A5"/>
                </a:solidFill>
                <a:latin typeface="Microsoft YaHei"/>
              </a:rPr>
              <a:t>③ 机制定位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459736"/>
            <a:ext cx="1792223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4253D"/>
                </a:solidFill>
                <a:latin typeface="Microsoft YaHei"/>
              </a:rPr>
              <a:t>组织源码、TTIR／bcmlir、真机指标与参考 Roofline；筛选目标 kernel 的热点指令并映射源码位置。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39"/>
            <a:ext cx="1463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526174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624" y="1874519"/>
            <a:ext cx="21031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78624" y="1874519"/>
            <a:ext cx="73152" cy="2468880"/>
          </a:xfrm>
          <a:prstGeom prst="rect">
            <a:avLst/>
          </a:prstGeom>
          <a:solidFill>
            <a:srgbClr val="D4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1984248"/>
            <a:ext cx="1828799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D48A24"/>
                </a:solidFill>
                <a:latin typeface="Microsoft YaHei"/>
              </a:rPr>
              <a:t>④ 形成假设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459736"/>
            <a:ext cx="1792223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4253D"/>
                </a:solidFill>
                <a:latin typeface="Microsoft YaHei"/>
              </a:rPr>
              <a:t>Agent结合算子类型和经验知识提出方向；阈值只触发待验证假设，不直接证明瓶颈。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834639"/>
            <a:ext cx="14630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526174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8048" y="1874519"/>
            <a:ext cx="21031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28048" y="1874519"/>
            <a:ext cx="73152" cy="2468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1984248"/>
            <a:ext cx="1828799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68C8C"/>
                </a:solidFill>
                <a:latin typeface="Microsoft YaHei"/>
              </a:rPr>
              <a:t>⑤ 完整验证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459736"/>
            <a:ext cx="1792223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4253D"/>
                </a:solidFill>
                <a:latin typeface="Microsoft YaHei"/>
              </a:rPr>
              <a:t>候选经过 KGS 正式合同、扩展语义和实际计时；复采证据检查预测，保留失败与来源。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709160"/>
            <a:ext cx="10835640" cy="987552"/>
          </a:xfrm>
          <a:prstGeom prst="roundRect">
            <a:avLst/>
          </a:prstGeom>
          <a:solidFill>
            <a:srgbClr val="E6F4F2"/>
          </a:solidFill>
          <a:ln>
            <a:solidFill>
              <a:srgbClr val="B9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855464"/>
            <a:ext cx="104241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14253D"/>
                </a:solidFill>
                <a:latin typeface="Microsoft YaHei"/>
              </a:rPr>
              <a:t>脚本做可重复的采集、聚合、筛选和校验；模型结合证据判断并选择修改；KGS 决定候选是否通过。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230368"/>
            <a:ext cx="103327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26174"/>
                </a:solidFill>
                <a:latin typeface="Microsoft YaHei"/>
              </a:rPr>
              <a:t>当前限制：经验 Roofline 不是物理峰值模型；0.7／0.5 等阈值是经验提示；热点映射不等于完整关键路径因果重建。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526174"/>
                </a:solidFill>
                <a:latin typeface="Microsoft YaHei"/>
              </a:rPr>
              <a:t>依据：tools/profiling/hgkda 与老师提供的 msprof-op-compare.zip 工作流；当前为脚本＋知识＋Agent调用的组合，不是完全自动的独立诊断器。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68C8C"/>
                </a:solidFill>
                <a:latin typeface="Microsoft YaHei"/>
              </a:rPr>
              <a:t>第一部分｜算子例子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4253D"/>
                </a:solidFill>
                <a:latin typeface="Microsoft YaHei"/>
              </a:rPr>
              <a:t>matmul_bias_activation：从对照指标走到复测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26174"/>
                </a:solidFill>
                <a:latin typeface="Microsoft YaHei"/>
              </a:rPr>
              <a:t>这个例子用于展示三步闭环的可执行性；入选源码复现了已有成功方案，不是本轮新发现。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1109960" cy="22860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755648"/>
            <a:ext cx="3456432" cy="1389888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55648"/>
            <a:ext cx="73152" cy="138988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65376"/>
            <a:ext cx="3182112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68C8C"/>
                </a:solidFill>
                <a:latin typeface="Microsoft YaHei"/>
              </a:rPr>
              <a:t>起点与结果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40864"/>
            <a:ext cx="3145536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14253D"/>
                </a:solidFill>
                <a:latin typeface="Microsoft YaHei"/>
              </a:rPr>
              <a:t>起点 0.865× → 候选 0.884×（相对 PyTorch）
同 15 个 case 的实际延迟改善 1.023×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755648"/>
            <a:ext cx="3456432" cy="1389888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1755648"/>
            <a:ext cx="73152" cy="1389888"/>
          </a:xfrm>
          <a:prstGeom prst="rect">
            <a:avLst/>
          </a:prstGeom>
          <a:solidFill>
            <a:srgbClr val="28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865376"/>
            <a:ext cx="3182112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2864A5"/>
                </a:solidFill>
                <a:latin typeface="Microsoft YaHei"/>
              </a:rPr>
              <a:t>Agent选择的动作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340864"/>
            <a:ext cx="3145536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14253D"/>
                </a:solidFill>
                <a:latin typeface="Microsoft YaHei"/>
              </a:rPr>
              <a:t>共享相邻输出块的 B；尝试改变输出 tile 复用方向。候选使用通用模板生成。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55648"/>
            <a:ext cx="3456432" cy="1389888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755648"/>
            <a:ext cx="73152" cy="1389888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65376"/>
            <a:ext cx="3182112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68C8C"/>
                </a:solidFill>
                <a:latin typeface="Microsoft YaHei"/>
              </a:rPr>
              <a:t>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40864"/>
            <a:ext cx="3145536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14253D"/>
                </a:solidFill>
                <a:latin typeface="Microsoft YaHei"/>
              </a:rPr>
              <a:t>起点与候选均 42/42 正式通过，另有 18＋24 项补充检查通过。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9808" y="3493008"/>
          <a:ext cx="10698480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复采后的观测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候选／起点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能支持的判断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GM／L2／L1总字节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约 1.00×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总流量基本没变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UB读写；Vector读UB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0.831×；0.727×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片内访问和尾部处理组织发生变化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AIV MTE2指令；平均搬运粒度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0.818×；1.217×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搬运指令减少、单条平均搬运更多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静态bcmlir copy／alloc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5处 → 4处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静态分配点减少；不能单独证明因果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04672" y="5650992"/>
            <a:ext cx="1051560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B44949"/>
                </a:solidFill>
                <a:latin typeface="Microsoft YaHei"/>
              </a:rPr>
              <a:t>解释边界：候选仍略慢于 PyTorch（0.884×）；模拟器只导出部分指令／源码映射后异常退出，不能称为完整关键路径分析。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526174"/>
                </a:solidFill>
                <a:latin typeface="Microsoft YaHei"/>
              </a:rPr>
              <a:t>来源：operators/campaigns/agent-demo-20261027/三步演示-核验版.md。候选源码与历史成功源码同字节，本批证明的是新采集和工作流复现。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68C8C"/>
                </a:solidFill>
                <a:latin typeface="Microsoft YaHei"/>
              </a:rPr>
              <a:t>第二部分｜新达标算子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4253D"/>
                </a:solidFill>
                <a:latin typeface="Microsoft YaHei"/>
              </a:rPr>
              <a:t>会议指定 FlagGems 算子：7 项默认条件达标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26174"/>
                </a:solidFill>
                <a:latin typeface="Microsoft YaHei"/>
              </a:rPr>
              <a:t>性能均为 KGS 完整调用 walltime 相对等价 PyTorch 参考的几何平均；Excel 历史值与固定 FlagGems 实测分别列出。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1109960" cy="22860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28216"/>
          <a:ext cx="11064237" cy="4105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7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算子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Excel原记录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FlagGems实测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优化版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主要验证／改动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value_selecting_reduction_backward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0.4935×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0.759×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1.635×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96项完整通过；布局修复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scatter_add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0.258×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1.900×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18＋18项；分段扫描修复动态范围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uniform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精度通过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0.141×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1.325×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18项；标准Philox逐位通过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rad2deg_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失败33/36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1.117×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36＋18项；原地语义与启动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upsample_bilinear2d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编译／布局失败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0.915×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24＋48＋36项；连续行分块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log10_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失败33/36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0.875×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36＋42＋12＋9项；stride与搬运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selu_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0.119×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0.837×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36＋42＋12＋9项；分块与精度安排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25312"/>
            <a:ext cx="10698480" cy="4937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4253D"/>
                </a:solidFill>
                <a:latin typeface="Microsoft YaHei"/>
              </a:rPr>
              <a:t>注意：0.8× 是项目门槛；0.837–0.915× 仍低于 PyTorch 的 1.0×。selu_另有扩展批次0.898×，按来源分列，不跨批次平均。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526174"/>
                </a:solidFill>
                <a:latin typeface="Microsoft YaHei"/>
              </a:rPr>
              <a:t>来源：operators/会议10算子最终验收-20261026.md。完整门禁和固定版本见该报告及对应 campaign。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68C8C"/>
                </a:solidFill>
                <a:latin typeface="Microsoft YaHei"/>
              </a:rPr>
              <a:t>第二部分｜验收边界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4253D"/>
                </a:solidFill>
                <a:latin typeface="Microsoft YaHei"/>
              </a:rPr>
              <a:t>剩余 3 项要按参考条件单列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26174"/>
                </a:solidFill>
                <a:latin typeface="Microsoft YaHei"/>
              </a:rPr>
              <a:t>会议10项的正式结论是 7 项默认达标、1 项确定性条件达标、2 项完成补充 NPU 分解对照。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1109960" cy="22860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792224"/>
          <a:ext cx="10972798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算子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Excel／原版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报告中的性能数值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cumulative_trapezoid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0.812×（确定性条件）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确定性33/33；默认参考重复结果不自洽，不能列默认达标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fractional_max_pool3d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0.0266×；FlagGems扩展16/27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17.683× CPU回退；10.066× NPU分解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9/9正式＋27＋30补充；CPU回退分数不当作原生NPU性能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_conj_physical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精度失败；新接口原版失败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47.170× CPU回退；2.296× NPU分解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53D"/>
                          </a:solidFill>
                          <a:latin typeface="Microsoft YaHei"/>
                        </a:rPr>
                        <a:t>14/14正式＋34补充；只作补充分解对照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" y="4526280"/>
            <a:ext cx="52578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4526280"/>
            <a:ext cx="73152" cy="1097280"/>
          </a:xfrm>
          <a:prstGeom prst="rect">
            <a:avLst/>
          </a:prstGeom>
          <a:solidFill>
            <a:srgbClr val="D4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636008"/>
            <a:ext cx="498348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D48A24"/>
                </a:solidFill>
                <a:latin typeface="Microsoft YaHei"/>
              </a:rPr>
              <a:t>确定性条件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111496"/>
            <a:ext cx="4946904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14253D"/>
                </a:solidFill>
                <a:latin typeface="Microsoft YaHei"/>
              </a:rPr>
              <a:t>累计积分需在隔离进程显式启用官方确定性算法；默认参考仍阻塞。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526280"/>
            <a:ext cx="52578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4526280"/>
            <a:ext cx="73152" cy="1097280"/>
          </a:xfrm>
          <a:prstGeom prst="rect">
            <a:avLst/>
          </a:prstGeom>
          <a:solidFill>
            <a:srgbClr val="B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636008"/>
            <a:ext cx="498348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B44949"/>
                </a:solidFill>
                <a:latin typeface="Microsoft YaHei"/>
              </a:rPr>
              <a:t>CPU回退参考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5111496"/>
            <a:ext cx="4946904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14253D"/>
                </a:solidFill>
                <a:latin typeface="Microsoft YaHei"/>
              </a:rPr>
              <a:t>池化与共轭的大倍数来自含CPU回退的参考。NPU分解由多项NPU原语组成，也不是官方单kernel对照。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526174"/>
                </a:solidFill>
                <a:latin typeface="Microsoft YaHei"/>
              </a:rPr>
              <a:t>来源：operators/会议10算子最终验收-20261026.md；operators/campaigns/acceptance-three-20261026/精简汇报.md。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68C8C"/>
                </a:solidFill>
                <a:latin typeface="Microsoft YaHei"/>
              </a:rPr>
              <a:t>第二部分｜FlagGems-SGLang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4253D"/>
                </a:solidFill>
                <a:latin typeface="Microsoft YaHei"/>
              </a:rPr>
              <a:t>SGLang 五项分开报告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26174"/>
                </a:solidFill>
                <a:latin typeface="Microsoft YaHei"/>
              </a:rPr>
              <a:t>本组没有对应 Excel 列；只有 gelu_and_mul 建议继续做 HG-KDA 深入优化。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11109960" cy="22860"/>
          </a:xfrm>
          <a:prstGeom prst="rect">
            <a:avLst/>
          </a:prstGeom>
          <a:solidFill>
            <a:srgbClr val="DC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64792"/>
          <a:ext cx="10972798" cy="3227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算子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FlagGems-SGLang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优化版／PyTorch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评测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主要优化／口径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64008" marR="64008" marT="36576" marB="36576" anchor="ctr">
                    <a:solidFill>
                      <a:srgbClr val="28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gelu_and_mul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0.068×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2.271×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19＋18＋15＋9项通过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对齐本机GELU公式；连续二维分块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已交付；活跃优化对象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moe_sum_reduce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0.965×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1.624×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两次8项正式；36项扩展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融合归约；修复非连续布局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已交付；生成＋Codex修复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per_token_quant_int8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2.085×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原版19/19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原版体检已超过PyTorch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归档，不重复优化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rotary_embedding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2.130×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原版9/9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原版体检已超过PyTorch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归档，不重复优化</a:t>
                      </a:r>
                    </a:p>
                  </a:txBody>
                  <a:tcPr marL="64008" marR="64008" marT="36576" marB="3657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silu_and_mul_masked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28.947×¹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参考口径观察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组合PyTorch参考含循环和.item()同步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253D"/>
                          </a:solidFill>
                          <a:latin typeface="Microsoft YaHei"/>
                        </a:rPr>
                        <a:t>不作公平融合kernel结论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86984"/>
            <a:ext cx="107899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26174"/>
                </a:solidFill>
                <a:latin typeface="Microsoft YaHei"/>
              </a:rPr>
              <a:t>¹ silu_and_mul_masked 的 28.947× 是带循环与同步的组合参考，不作为公平融合 kernel 的加速结论。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47104"/>
            <a:ext cx="109728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0">
                <a:solidFill>
                  <a:srgbClr val="526174"/>
                </a:solidFill>
                <a:latin typeface="Microsoft YaHei"/>
              </a:rPr>
              <a:t>来源：docs/实验归属与汇报口径.md；operators/campaigns/night-20261021-v3/精简汇报.md。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777</Words>
  <Application>Microsoft Office PowerPoint</Application>
  <PresentationFormat>宽屏</PresentationFormat>
  <Paragraphs>162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hanle zhang</cp:lastModifiedBy>
  <cp:revision>1</cp:revision>
  <dcterms:created xsi:type="dcterms:W3CDTF">2013-01-27T09:14:16Z</dcterms:created>
  <dcterms:modified xsi:type="dcterms:W3CDTF">2026-10-28T06:04:22Z</dcterms:modified>
  <cp:category/>
</cp:coreProperties>
</file>